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9144000" cy="982980"/>
          </a:xfrm>
          <a:prstGeom prst="roundRect">
            <a:avLst>
              <a:gd name="adj" fmla="val 4651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297680"/>
            <a:ext cx="640080" cy="64008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4297680"/>
            <a:ext cx="640080" cy="64008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算法与问题解决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浙教版六年级上册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第一单元 · 第1课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4069080"/>
            <a:ext cx="457200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188720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188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信息意识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5544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了解两种问题解决途径，判断各自适用场景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188720"/>
            <a:ext cx="347472" cy="34747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188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1430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计算思维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94960" y="15544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经历抽象建模→设计算法→验证算法全过程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063240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63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0175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数字化学习与创新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34290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小组合作绘制流程图，尝试算法修改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292608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83480" y="3063240"/>
            <a:ext cx="347472" cy="347472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063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30175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信息社会责任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94960" y="34290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认识完整、健壮算法对社会生活的重要性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情境导入：学校信息中心选logo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学校信息中心收到了两个logo设计方案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0F7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45920"/>
            <a:ext cx="3474720" cy="137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25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A</a:t>
            </a:r>
            <a:endParaRPr lang="en-US" sz="1800" dirty="0"/>
          </a:p>
        </p:txBody>
      </p:sp>
      <p:pic>
        <p:nvPicPr>
          <p:cNvPr id="10" name="Image 0" descr="/Users/zhangyouyu/Desktop/信息科技学习空间/private_files/六年级上册素材/六年级上册第1课素材/slides/imgs/logo_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920240"/>
            <a:ext cx="2926080" cy="1828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3840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科技感 · 六边形标识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20640" y="132588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FF9F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20640" y="132588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120640" y="1645920"/>
            <a:ext cx="3474720" cy="137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20640" y="1325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B</a:t>
            </a:r>
            <a:endParaRPr lang="en-US" sz="1800" dirty="0"/>
          </a:p>
        </p:txBody>
      </p:sp>
      <p:pic>
        <p:nvPicPr>
          <p:cNvPr id="16" name="Image 1" descr="/Users/zhangyouyu/Desktop/信息科技学习空间/private_files/六年级上册素材/六年级上册第1课素材/slides/imgs/logo_b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94960" y="1920240"/>
            <a:ext cx="2926080" cy="18288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03520" y="3840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书香风 · 知识之窗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2514600" y="2560320"/>
            <a:ext cx="640080" cy="640080"/>
          </a:xfrm>
          <a:prstGeom prst="ellipse">
            <a:avLst/>
          </a:prstGeom>
          <a:solidFill>
            <a:srgbClr val="E9C46A"/>
          </a:solidFill>
          <a:ln w="25400">
            <a:solidFill>
              <a:srgbClr val="E9C46A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251460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57200" y="43891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9C46A"/>
          </a:solidFill>
          <a:ln/>
        </p:spPr>
      </p:sp>
      <p:sp>
        <p:nvSpPr>
          <p:cNvPr id="21" name="Text 1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1000名师生投票选logo —— 计算机怎么统计？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抽象与建模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904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明确问题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1000名学生投票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选A或B作品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2125980"/>
            <a:ext cx="274320" cy="0"/>
          </a:xfrm>
          <a:prstGeom prst="line">
            <a:avLst/>
          </a:prstGeom>
          <a:noFill/>
          <a:ln w="25400">
            <a:solidFill>
              <a:srgbClr val="264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9431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06040" y="141732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4904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确定变量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1031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tp（投票内容）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a（A票数）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b（B票数）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2125980"/>
            <a:ext cx="274320" cy="0"/>
          </a:xfrm>
          <a:prstGeom prst="line">
            <a:avLst/>
          </a:prstGeom>
          <a:noFill/>
          <a:ln w="25400">
            <a:solidFill>
              <a:srgbClr val="264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9431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4904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抽象规则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1031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tp='a' → a+1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tp='b' → b+1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29400" y="2125980"/>
            <a:ext cx="274320" cy="0"/>
          </a:xfrm>
          <a:prstGeom prst="line">
            <a:avLst/>
          </a:prstGeom>
          <a:noFill/>
          <a:ln w="25400">
            <a:solidFill>
              <a:srgbClr val="2646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9431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086600" y="141732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14904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7804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建立模型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21031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用变量和规则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构建投票模型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从现实问题 → 提取变量 → 归纳规则 → 构建模型：这就是“抽象与建模”的完整过程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变量：tp, a, b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337560" y="384048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规则：条件判断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17920" y="3840480"/>
            <a:ext cx="2468880" cy="640080"/>
          </a:xfrm>
          <a:prstGeom prst="roundRect">
            <a:avLst>
              <a:gd name="adj" fmla="val 8571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8404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模型：投票流程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设计算法：投票统计算法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6384" y="1481328"/>
            <a:ext cx="0" cy="274320"/>
          </a:xfrm>
          <a:prstGeom prst="line">
            <a:avLst/>
          </a:prstGeom>
          <a:noFill/>
          <a:ln w="19050">
            <a:solidFill>
              <a:srgbClr val="D0D0D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188720" y="105156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5F8F7"/>
          </a:solidFill>
          <a:ln w="9525">
            <a:solidFill>
              <a:srgbClr val="E0E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0515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步骤1：a=0, b=0（初始化票数）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1755648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6384" y="2139696"/>
            <a:ext cx="0" cy="274320"/>
          </a:xfrm>
          <a:prstGeom prst="line">
            <a:avLst/>
          </a:prstGeom>
          <a:noFill/>
          <a:ln w="19050">
            <a:solidFill>
              <a:srgbClr val="D0D0D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188720" y="1709928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5F8F7"/>
          </a:solidFill>
          <a:ln w="9525">
            <a:solidFill>
              <a:srgbClr val="E0E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170992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步骤2：获取一张投票，存入 tp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2414016"/>
            <a:ext cx="384048" cy="38404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14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86384" y="2798064"/>
            <a:ext cx="0" cy="274320"/>
          </a:xfrm>
          <a:prstGeom prst="line">
            <a:avLst/>
          </a:prstGeom>
          <a:noFill/>
          <a:ln w="19050">
            <a:solidFill>
              <a:srgbClr val="D0D0D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188720" y="2368296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FF8E1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2368296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步骤3：判断 —— 如果 tp="a"，则 a=a+1；如果 tp="b"，则 b=b+1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3072384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072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86384" y="3456432"/>
            <a:ext cx="0" cy="274320"/>
          </a:xfrm>
          <a:prstGeom prst="line">
            <a:avLst/>
          </a:prstGeom>
          <a:noFill/>
          <a:ln w="19050">
            <a:solidFill>
              <a:srgbClr val="D0D0D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188720" y="3026664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5F8F7"/>
          </a:solidFill>
          <a:ln w="9525">
            <a:solidFill>
              <a:srgbClr val="E0E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3026664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步骤4：重复步骤2、3，共1000次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3730752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30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88720" y="3685032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F5F8F7"/>
          </a:solidFill>
          <a:ln w="9525">
            <a:solidFill>
              <a:srgbClr val="E0E8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368503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步骤5：输出 a 和 b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097280" y="2313432"/>
            <a:ext cx="7223760" cy="612648"/>
          </a:xfrm>
          <a:prstGeom prst="roundRect">
            <a:avLst>
              <a:gd name="adj" fmla="val 14925"/>
            </a:avLst>
          </a:prstGeom>
          <a:solidFill>
            <a:srgbClr val="000000">
              <a:alpha val="5000"/>
            </a:srgbClr>
          </a:solidFill>
          <a:ln w="31750">
            <a:solidFill>
              <a:srgbClr val="E9C4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2112264"/>
            <a:ext cx="822960" cy="274320"/>
          </a:xfrm>
          <a:prstGeom prst="roundRect">
            <a:avLst>
              <a:gd name="adj" fmla="val 33333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21122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20640" y="425196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FFF3E0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4251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a=a+1 </a:t>
            </a:r>
            <a:pPr algn="l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怎么理解？</a:t>
            </a:r>
            <a:pPr algn="l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l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 的值加1再存回 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认识流程图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8FAFA"/>
          </a:solidFill>
          <a:ln w="9525">
            <a:solidFill>
              <a:srgbClr val="E0E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1234440"/>
            <a:ext cx="1188720" cy="640080"/>
          </a:xfrm>
          <a:prstGeom prst="roundRect">
            <a:avLst>
              <a:gd name="adj" fmla="val 1714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2344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圆角矩形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开始 / 结束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8FAFA"/>
          </a:solidFill>
          <a:ln w="9525">
            <a:solidFill>
              <a:srgbClr val="E0E8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0760" y="1234440"/>
            <a:ext cx="1188720" cy="640080"/>
          </a:xfrm>
          <a:prstGeom prst="rect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2344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057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处理步骤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8FAFA"/>
          </a:solidFill>
          <a:ln w="9525">
            <a:solidFill>
              <a:srgbClr val="E0E8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429000"/>
            <a:ext cx="1188720" cy="822960"/>
          </a:xfrm>
          <a:prstGeom prst="diamond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34290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343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菱形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663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条件判断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33756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8FAFA"/>
          </a:solidFill>
          <a:ln w="9525">
            <a:solidFill>
              <a:srgbClr val="E0E8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840480"/>
            <a:ext cx="91440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657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4343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箭头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83480" y="4663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流程方向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探究活动一：绘制流程图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两个候选logo</a:t>
            </a:r>
            <a:endParaRPr lang="en-US" sz="1100" dirty="0"/>
          </a:p>
        </p:txBody>
      </p:sp>
      <p:pic>
        <p:nvPicPr>
          <p:cNvPr id="6" name="Image 0" descr="/Users/zhangyouyu/Desktop/信息科技学习空间/private_files/六年级上册素材/六年级上册第1课素材/slides/imgs/logo_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548640"/>
            <a:ext cx="105156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0" y="146304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A</a:t>
            </a:r>
            <a:endParaRPr lang="en-US" sz="900" dirty="0"/>
          </a:p>
        </p:txBody>
      </p:sp>
      <p:pic>
        <p:nvPicPr>
          <p:cNvPr id="8" name="Image 1" descr="/Users/zhangyouyu/Desktop/信息科技学习空间/private_files/六年级上册素材/六年级上册第1课素材/slides/imgs/logo_b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18120" y="548640"/>
            <a:ext cx="1051560" cy="914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18120" y="146304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B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452360" y="822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1051560"/>
            <a:ext cx="5943600" cy="1920240"/>
          </a:xfrm>
          <a:prstGeom prst="roundRect">
            <a:avLst>
              <a:gd name="adj" fmla="val 4762"/>
            </a:avLst>
          </a:prstGeom>
          <a:solidFill>
            <a:srgbClr val="F0F7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200" y="1051560"/>
            <a:ext cx="137160" cy="1920240"/>
          </a:xfrm>
          <a:prstGeom prst="roundRect">
            <a:avLst>
              <a:gd name="adj" fmla="val 3333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68680" y="123444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86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☷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508760" y="11887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学校信息中心要从两个候选logo中选一个，1000名师生投票（投A或B）。请小组合作（2-4人），将投票统计算法转化为一张完整的流程图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88720" y="187452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88720" y="18745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508760" y="185623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画出“开始”和“结束”的圆角矩形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188720" y="2121408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88720" y="21214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508760" y="21031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用矩形表示每个处理步骤（如 a=0, b=0）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1188720" y="2368296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88720" y="23682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1508760" y="235000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用菱形表示条件判断（tp="a" 还是 tp="b"）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1188720" y="2615184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88720" y="26151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508760" y="2596896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用箭头连接所有步骤，循环箭头要回到正确位置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32461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DF8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66928" y="3355848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6692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96012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贴士1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594360" y="3703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循环怎么画？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594360" y="3977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箭头回到前面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3337560" y="32461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DF8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3447288" y="3355848"/>
            <a:ext cx="292608" cy="29260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44728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384048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贴士2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3474720" y="3703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a=a+1不理解？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3474720" y="3977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用计数器比喻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6217920" y="324612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DF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327648" y="3355848"/>
            <a:ext cx="292608" cy="29260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327648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39"/>
          <p:cNvSpPr/>
          <p:nvPr/>
        </p:nvSpPr>
        <p:spPr>
          <a:xfrm>
            <a:off x="6720840" y="3337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贴士3</a:t>
            </a:r>
            <a:endParaRPr lang="en-US" sz="1300" dirty="0"/>
          </a:p>
        </p:txBody>
      </p:sp>
      <p:sp>
        <p:nvSpPr>
          <p:cNvPr id="44" name="Text 40"/>
          <p:cNvSpPr/>
          <p:nvPr/>
        </p:nvSpPr>
        <p:spPr>
          <a:xfrm>
            <a:off x="6355080" y="3703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忘记初始化？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6355080" y="3977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票数不准！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探究活动二：验证算法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投票数据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44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874520" y="132588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1344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7452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91840" y="132588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44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09160" y="132588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344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26480" y="1325880"/>
            <a:ext cx="1097280" cy="594360"/>
          </a:xfrm>
          <a:prstGeom prst="roundRect">
            <a:avLst>
              <a:gd name="adj" fmla="val 12308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3441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逐步追踪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8229600" cy="347472"/>
          </a:xfrm>
          <a:prstGeom prst="roundRect">
            <a:avLst>
              <a:gd name="adj" fmla="val 13158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4688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03120" y="24688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的值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24688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的值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0" y="24688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solidFill>
            <a:srgbClr val="F8FAFA"/>
          </a:solidFill>
          <a:ln w="6350">
            <a:solidFill>
              <a:srgbClr val="E8ED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8163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第1票(a)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03120" y="28163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31920" y="28163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60720" y="28163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tp="a" → a = 0+1 = 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163824"/>
            <a:ext cx="8229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16382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第2票(b)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03120" y="31638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31920" y="31638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760720" y="316382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tp="b" → b = 0+1 = 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511296"/>
            <a:ext cx="8229600" cy="347472"/>
          </a:xfrm>
          <a:prstGeom prst="rect">
            <a:avLst/>
          </a:prstGeom>
          <a:solidFill>
            <a:srgbClr val="F8FAFA"/>
          </a:solidFill>
          <a:ln w="6350">
            <a:solidFill>
              <a:srgbClr val="E8ED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51129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第3票(a)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03120" y="351129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931920" y="351129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760720" y="35112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tp="a" → a = 1+1 = 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858768"/>
            <a:ext cx="8229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D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8587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第4票(a)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103120" y="38587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931920" y="385876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760720" y="38587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tp="a" → a = 2+1 = 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solidFill>
            <a:srgbClr val="F8FAFA"/>
          </a:solidFill>
          <a:ln w="6350">
            <a:solidFill>
              <a:srgbClr val="E8ED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2062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第5票(b)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103120" y="4206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3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931920" y="4206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760720" y="42062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tp="b" → b = 1+1 = 2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4434840"/>
            <a:ext cx="4754880" cy="411480"/>
          </a:xfrm>
          <a:prstGeom prst="roundRect">
            <a:avLst>
              <a:gd name="adj" fmla="val 22222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4348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3, b = 2  ✓ 验证成功！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486400" y="443484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FFF3E0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0" y="4434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请你也手动走一遍，确认结果对吗？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拓展任务：算法修改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两候选人算法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EDF5F3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733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a, 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EDF5F3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706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tp="a" 或 tp="b"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3931920" y="20116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三候选人算法（你的任务）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160020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9F0"/>
          </a:solidFill>
          <a:ln w="12700">
            <a:solidFill>
              <a:srgbClr val="F4A261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93776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需要增加什么变量？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164592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4754880" y="24231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9F0"/>
          </a:solidFill>
          <a:ln w="12700">
            <a:solidFill>
              <a:srgbClr val="F4A261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93776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分支结构怎么变？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0" y="246888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754880" y="32461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9F0"/>
          </a:solidFill>
          <a:ln w="12700">
            <a:solidFill>
              <a:srgbClr val="F4A261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93776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循环要不要改？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32918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E9C46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修改你的流程图，适应三位候选人的情况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反思提升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知识锦囊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EDF5F3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27048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27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抽象建模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1965960"/>
            <a:ext cx="1920240" cy="182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定变量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建规则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474720" y="141732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EDF5F3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527048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527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1508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设计算法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11880" y="1965960"/>
            <a:ext cx="1920240" cy="182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自然语言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流程图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1874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217920" y="141732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EDF5F3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527048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527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1508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验证算法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355080" y="1965960"/>
            <a:ext cx="1920240" cy="182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代入数据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运行程序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828800" y="310896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/>
        </p:spPr>
      </p:sp>
      <p:sp>
        <p:nvSpPr>
          <p:cNvPr id="30" name="Text 28"/>
          <p:cNvSpPr/>
          <p:nvPr/>
        </p:nvSpPr>
        <p:spPr>
          <a:xfrm>
            <a:off x="182880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核心工具：变量 · 分支结构 · 循环结构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0" y="37490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840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思考：如果投票人输入了 'c' 而不是 'a' 或 'b'，算法会怎样？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FFF8E1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反馈评价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当堂检测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794760" cy="502920"/>
          </a:xfrm>
          <a:prstGeom prst="roundRect">
            <a:avLst>
              <a:gd name="adj" fmla="val 10909"/>
            </a:avLst>
          </a:prstGeom>
          <a:solidFill>
            <a:srgbClr val="EDF5F3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1000人投票适合用什么途径？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143000"/>
            <a:ext cx="3794760" cy="502920"/>
          </a:xfrm>
          <a:prstGeom prst="roundRect">
            <a:avLst>
              <a:gd name="adj" fmla="val 10909"/>
            </a:avLst>
          </a:prstGeom>
          <a:solidFill>
            <a:srgbClr val="EDF5F3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1430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11430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变量 tp 和 a 分别表示什么？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3794760" cy="502920"/>
          </a:xfrm>
          <a:prstGeom prst="roundRect">
            <a:avLst>
              <a:gd name="adj" fmla="val 10909"/>
            </a:avLst>
          </a:prstGeom>
          <a:solidFill>
            <a:srgbClr val="EDF5F3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75564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17556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a=a+1 表示什么？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1755648"/>
            <a:ext cx="3794760" cy="502920"/>
          </a:xfrm>
          <a:prstGeom prst="roundRect">
            <a:avLst>
              <a:gd name="adj" fmla="val 10909"/>
            </a:avLst>
          </a:prstGeom>
          <a:solidFill>
            <a:srgbClr val="EDF5F3"/>
          </a:solidFill>
          <a:ln w="9525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75564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175564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循环和分支有什么区别？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自我评价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F8FAFA"/>
          </a:solidFill>
          <a:ln w="6350">
            <a:solidFill>
              <a:srgbClr val="E0E8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7889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我能说出三步骤 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09544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F8FAFA"/>
          </a:solidFill>
          <a:ln w="6350">
            <a:solidFill>
              <a:srgbClr val="E0E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2095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我能确定变量 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630168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F8FAFA"/>
          </a:solidFill>
          <a:ln w="6350">
            <a:solidFill>
              <a:srgbClr val="E0E8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630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我能写算法步骤 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050792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F8FAFA"/>
          </a:solidFill>
          <a:ln w="6350">
            <a:solidFill>
              <a:srgbClr val="E0E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0507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我理解a=a+1 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971800"/>
            <a:ext cx="320040" cy="3200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392424"/>
            <a:ext cx="320040" cy="3200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3924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9C46A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必做：完善投票问题流程图（拍照/截图） | 思考：回家找一个“计算机算法能解决”的任务，记下三个关键变量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43600" y="27889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8E1"/>
          </a:solidFill>
          <a:ln w="9525">
            <a:solidFill>
              <a:srgbClr val="E9C4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2834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80760" y="3172968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全部达标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达标3项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达标1-2项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709160"/>
            <a:ext cx="548640" cy="320040"/>
          </a:xfrm>
          <a:prstGeom prst="roundRect">
            <a:avLst>
              <a:gd name="adj" fmla="val 42857"/>
            </a:avLst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0" y="-457200"/>
            <a:ext cx="4572000" cy="4572000"/>
          </a:xfrm>
          <a:prstGeom prst="ellipse">
            <a:avLst/>
          </a:prstGeom>
          <a:solidFill>
            <a:srgbClr val="E9C46A">
              <a:alpha val="12000"/>
            </a:srgbClr>
          </a:solidFill>
          <a:ln w="12700">
            <a:solidFill>
              <a:srgbClr val="E9C46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2743200"/>
            <a:ext cx="2743200" cy="2743200"/>
          </a:xfrm>
          <a:prstGeom prst="ellipse">
            <a:avLst/>
          </a:prstGeom>
          <a:solidFill>
            <a:srgbClr val="2A9D8F">
              <a:alpha val="10000"/>
            </a:srgbClr>
          </a:solidFill>
          <a:ln w="12700">
            <a:solidFill>
              <a:srgbClr val="2A9D8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74320"/>
            <a:ext cx="1097280" cy="1097280"/>
          </a:xfrm>
          <a:prstGeom prst="ellipse">
            <a:avLst/>
          </a:prstGeom>
          <a:solidFill>
            <a:srgbClr val="2A9D8F">
              <a:alpha val="8000"/>
            </a:srgbClr>
          </a:solidFill>
          <a:ln w="12700">
            <a:solidFill>
              <a:srgbClr val="2A9D8F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下节课预告：用 Python 实现投票算法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0" y="2834640"/>
            <a:ext cx="3657600" cy="274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310896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31089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抽象建模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310896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31089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设计算法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0" y="310896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31089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验证算法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41064" y="3931920"/>
            <a:ext cx="109728" cy="109728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3931920"/>
            <a:ext cx="109728" cy="1097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931920"/>
            <a:ext cx="109728" cy="1097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93208" y="3931920"/>
            <a:ext cx="109728" cy="10972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2026-06-17T08:15:28Z</dcterms:created>
  <dcterms:modified xsi:type="dcterms:W3CDTF">2026-06-17T08:15:28Z</dcterms:modified>
</cp:coreProperties>
</file>