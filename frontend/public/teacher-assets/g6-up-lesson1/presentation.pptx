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oundRect">
            <a:avLst>
              <a:gd name="adj" fmla="val 4651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297680"/>
            <a:ext cx="640080" cy="6400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297680"/>
            <a:ext cx="640080" cy="6400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算法与问题解决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浙教版六年级上册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C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第一单元 · 第1课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069080"/>
            <a:ext cx="45720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88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887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信息意识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3017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了解两种问题解决途径，判断各自适用场景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188720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887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14300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计算思维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1554480"/>
            <a:ext cx="3017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经历抽象建模→设计算法→验证算法全过程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063240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6324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数字化学习与创新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3017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小组合作绘制流程图，尝试算法修改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063240"/>
            <a:ext cx="347472" cy="347472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6324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01752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信息社会责任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3429000"/>
            <a:ext cx="3017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认识完整、健壮算法对社会生活的重要性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情境导入：学校信息中心选logo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学校信息中心收到了两个logo设计方案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0F7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3474720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A</a:t>
            </a:r>
            <a:endParaRPr lang="en-US" sz="1800" dirty="0"/>
          </a:p>
        </p:txBody>
      </p:sp>
      <p:pic>
        <p:nvPicPr>
          <p:cNvPr id="10" name="Image 0" descr="/Users/zhangyouyu/WorkBuddy/2026-06-16-16-24-28/slides/imgs/logo_a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22960" y="1920240"/>
            <a:ext cx="292608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8404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科技感 · 六边形标识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0" y="13258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9F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13258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0" y="1645920"/>
            <a:ext cx="347472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13258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B</a:t>
            </a:r>
            <a:endParaRPr lang="en-US" sz="1800" dirty="0"/>
          </a:p>
        </p:txBody>
      </p:sp>
      <p:pic>
        <p:nvPicPr>
          <p:cNvPr id="16" name="Image 1" descr="/Users/zhangyouyu/WorkBuddy/2026-06-16-16-24-28/slides/imgs/logo_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94960" y="1920240"/>
            <a:ext cx="2926080" cy="1828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38404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书香风 · 知识之窗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rgbClr val="E9C46A"/>
          </a:solidFill>
          <a:ln w="25400">
            <a:solidFill>
              <a:srgbClr val="E9C46A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251960" y="24917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465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9C46A"/>
          </a:solidFill>
        </p:spPr>
      </p:sp>
      <p:sp>
        <p:nvSpPr>
          <p:cNvPr id="21" name="Text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1000名师生投票选logo —— 计算机怎么统计？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抽象与建模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90472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1000名学生投票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选A或B作品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2125980"/>
            <a:ext cx="274320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9431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65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90472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7373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确定变量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103120"/>
            <a:ext cx="1463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tp（投票内容）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a（A票数）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b（B票数）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125980"/>
            <a:ext cx="274320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431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65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90472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373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抽象规则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tp='a' → a+1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tp='b' → b+1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125980"/>
            <a:ext cx="274320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9431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465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8660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490472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17373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建立模型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10312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用变量和规则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构建投票模型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从现实问题 → 提取变量 → 归纳规则 → 构建模型：这就是“抽象与建模”的完整过程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变量：tp, a, 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37560" y="3840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8404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规则：条件判断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3840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8404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模型：投票流程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设计算法：投票统计算法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1481328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188720" y="105156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05156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步骤1：a=0, b=0（初始化票数）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5564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" y="2139696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88720" y="1709928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709928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步骤2：获取一张投票，存入 tp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2414016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1401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" y="2798064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188720" y="2368296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8E1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368296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步骤3：判断 —— 如果 tp="a"，则 a=a+1；如果 tp="b"，则 b=b+1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07238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7238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6384" y="3456432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88720" y="3026664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026664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步骤4：重复步骤2、3，共1000次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73075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3075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8720" y="3685032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68503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步骤5：输出 a 和 b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97280" y="2313432"/>
            <a:ext cx="7223760" cy="612648"/>
          </a:xfrm>
          <a:prstGeom prst="roundRect">
            <a:avLst>
              <a:gd name="adj" fmla="val 14925"/>
            </a:avLst>
          </a:prstGeom>
          <a:solidFill>
            <a:srgbClr val="000000">
              <a:alpha val="5000"/>
            </a:srgbClr>
          </a:solidFill>
          <a:ln w="3175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2112264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2112264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42519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4251960"/>
            <a:ext cx="3383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a=a+1 </a:t>
            </a: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怎么理解？</a:t>
            </a:r>
            <a:r>
              <a:rPr lang="en-US" sz="1100" b="1" dirty="0">
                <a:solidFill>
                  <a:srgbClr val="F4A2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→  </a:t>
            </a:r>
            <a:r>
              <a:rPr lang="en-US" sz="110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a 的值加1再存回 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认识流程图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234440"/>
            <a:ext cx="118872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234440"/>
            <a:ext cx="1188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圆角矩形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开始 / 结束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234440"/>
            <a:ext cx="1188720" cy="6400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34440"/>
            <a:ext cx="1188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矩形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37744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处理步骤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429000"/>
            <a:ext cx="1188720" cy="822960"/>
          </a:xfrm>
          <a:prstGeom prst="diamond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42900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菱形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条件判断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37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840480"/>
            <a:ext cx="9144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6576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434340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箭头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466344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流程方向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探究活动一：绘制流程图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0" y="2743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两个候选logo</a:t>
            </a:r>
            <a:endParaRPr lang="en-US" sz="1100" dirty="0"/>
          </a:p>
        </p:txBody>
      </p:sp>
      <p:pic>
        <p:nvPicPr>
          <p:cNvPr id="6" name="Image 0" descr="/Users/zhangyouyu/WorkBuddy/2026-06-16-16-24-28/slides/imgs/logo_a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83680" y="548640"/>
            <a:ext cx="105156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463040"/>
            <a:ext cx="1051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A</a:t>
            </a:r>
            <a:endParaRPr lang="en-US" sz="900" dirty="0"/>
          </a:p>
        </p:txBody>
      </p:sp>
      <p:pic>
        <p:nvPicPr>
          <p:cNvPr id="8" name="Image 1" descr="/Users/zhangyouyu/WorkBuddy/2026-06-16-16-24-28/slides/imgs/logo_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18120" y="548640"/>
            <a:ext cx="105156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18120" y="1463040"/>
            <a:ext cx="1051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B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543800" y="8229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1051560"/>
            <a:ext cx="5943600" cy="1920240"/>
          </a:xfrm>
          <a:prstGeom prst="roundRect">
            <a:avLst>
              <a:gd name="adj" fmla="val 4762"/>
            </a:avLst>
          </a:prstGeom>
          <a:solidFill>
            <a:srgbClr val="F0F7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1051560"/>
            <a:ext cx="137160" cy="1920240"/>
          </a:xfrm>
          <a:prstGeom prst="roundRect">
            <a:avLst>
              <a:gd name="adj" fmla="val 33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12344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12344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☷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508760" y="1188720"/>
            <a:ext cx="466344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学校信息中心要从两个候选logo中选一个，1000名师生投票（投A或B）。请小组合作（2-4人），将投票统计算法转化为一张完整的流程图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88720" y="18745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88720" y="1874520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508760" y="1856232"/>
            <a:ext cx="46634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画出“开始”和“结束”的圆角矩形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188720" y="21214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88720" y="2121408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508760" y="2103120"/>
            <a:ext cx="46634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用矩形表示每个处理步骤（如 a=0, b=0）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188720" y="236829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88720" y="2368296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508760" y="2350008"/>
            <a:ext cx="46634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用菱形表示条件判断（tp="a" 还是 tp="b"）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88720" y="261518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88720" y="2615184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508760" y="2596896"/>
            <a:ext cx="46634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用箭头连接所有步骤，循环箭头要回到正确位置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66928" y="335584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66928" y="335584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60120" y="33375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贴士1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94360" y="370332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循环怎么画？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94360" y="3977640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箭头回到前面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33756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447288" y="3355848"/>
            <a:ext cx="292608" cy="29260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447288" y="335584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3840480" y="33375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C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贴士2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3474720" y="370332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a=a+1不理解？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3474720" y="3977640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C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用计数器比喻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21792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327648" y="3355848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327648" y="335584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6720840" y="33375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贴士3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6355080" y="370332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忘记初始化？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6355080" y="3977640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票数不准！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探究活动二：验证算法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投票数据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7452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34416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5544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4416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34416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5544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4416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5544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逐步追踪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68880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246888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的值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246888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的值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468880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solidFill>
            <a:srgbClr val="F8FAFA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16352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第1票(a)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2816352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0" y="2816352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2816352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tp="a" → a = 0+1 =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163824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63824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第2票(b)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3163824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3163824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3163824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tp="b" → b = 0+1 = 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511296"/>
            <a:ext cx="8229600" cy="347472"/>
          </a:xfrm>
          <a:prstGeom prst="rect">
            <a:avLst/>
          </a:prstGeom>
          <a:solidFill>
            <a:srgbClr val="F8FAFA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511296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第3票(a)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3511296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3511296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60720" y="3511296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tp="a" → a = 1+1 = 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858768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858768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第4票(a)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03120" y="385876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931920" y="385876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60720" y="3858768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tp="a" → a = 2+1 = 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solidFill>
            <a:srgbClr val="F8FAFA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06240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第5票(b)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03120" y="420624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31920" y="420624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760720" y="4206240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tp="b" → b = 1+1 = 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434840"/>
            <a:ext cx="4754880" cy="411480"/>
          </a:xfrm>
          <a:prstGeom prst="roundRect">
            <a:avLst>
              <a:gd name="adj" fmla="val 22222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43484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3, b = 2  ✓ 验证成功！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0" y="443484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FFF3E0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443484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请你也手动走一遍，确认结果对吗？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拓展任务：算法修改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</p:spPr>
      </p:sp>
      <p:sp>
        <p:nvSpPr>
          <p:cNvPr id="6" name="Text 4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两候选人算法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a, 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70632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tp="a" 或 tp="b"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9202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C4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931920" y="2011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011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9C4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三候选人算法（你的任务）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6002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9F0"/>
          </a:solidFill>
          <a:ln w="12700">
            <a:solidFill>
              <a:srgbClr val="F4A26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937760" y="1645920"/>
            <a:ext cx="27432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需要增加什么变量？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1645920"/>
            <a:ext cx="731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?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9F0"/>
          </a:solidFill>
          <a:ln w="12700">
            <a:solidFill>
              <a:srgbClr val="F4A26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937760" y="2468880"/>
            <a:ext cx="27432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分支结构怎么变？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468880"/>
            <a:ext cx="731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?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9F0"/>
          </a:solidFill>
          <a:ln w="12700">
            <a:solidFill>
              <a:srgbClr val="F4A26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27432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循环要不要改？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291840"/>
            <a:ext cx="731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?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9C46A"/>
          </a:solidFill>
        </p:spPr>
      </p:sp>
      <p:sp>
        <p:nvSpPr>
          <p:cNvPr id="28" name="Text 2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修改你的流程图，适应三位候选人的情况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反思提升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知识锦囊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270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抽象建模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1920240" cy="182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574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定变量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建规则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8745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C4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47472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5270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150876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设计算法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11880" y="1965960"/>
            <a:ext cx="1920240" cy="182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0574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自然语言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2377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流程图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18745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C4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5270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150876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验证算法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1920240" cy="182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0574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代入数据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运行程序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310896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E9C46A"/>
          </a:solidFill>
        </p:spPr>
      </p:sp>
      <p:sp>
        <p:nvSpPr>
          <p:cNvPr id="30" name="Text 28"/>
          <p:cNvSpPr/>
          <p:nvPr/>
        </p:nvSpPr>
        <p:spPr>
          <a:xfrm>
            <a:off x="1828800" y="3108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核心工具：变量 · 分支结构 · 循环结构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0" y="37490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840480"/>
            <a:ext cx="384048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🤔 思考：如果投票人输入了 'c' 而不是 'a' 或 'b'，算法会怎样？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FFF8E1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反馈评价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当堂检测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457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06324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1000人投票适合用什么途径？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143000"/>
            <a:ext cx="457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143000"/>
            <a:ext cx="306324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 tp 和 a 分别表示什么？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55648"/>
            <a:ext cx="457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755648"/>
            <a:ext cx="306324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a=a+1 表示什么？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755648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755648"/>
            <a:ext cx="457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755648"/>
            <a:ext cx="306324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循环和分支有什么区别？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自我评价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8892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我能说出三步骤 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09544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我能确定变量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301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我能写算法步骤 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5079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我理解a=a+1 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718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92424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92424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9C46A"/>
          </a:solidFill>
        </p:spPr>
      </p:sp>
      <p:sp>
        <p:nvSpPr>
          <p:cNvPr id="32" name="Text 30"/>
          <p:cNvSpPr/>
          <p:nvPr/>
        </p:nvSpPr>
        <p:spPr>
          <a:xfrm>
            <a:off x="548640" y="39319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必做：完善投票问题流程图（拍照/截图） | 思考：回家找一个“计算机算法能解决”的任务，记下三个关键变量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8E1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283464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评分标准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3172968"/>
            <a:ext cx="228600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A: 全部达标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B: 达标3项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C: 达标1-2项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</p:spPr>
      </p:sp>
      <p:sp>
        <p:nvSpPr>
          <p:cNvPr id="3" name="Text 1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E9C46A">
              <a:alpha val="12000"/>
            </a:srgbClr>
          </a:solidFill>
          <a:ln w="12700">
            <a:solidFill>
              <a:srgbClr val="E9C4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2743200"/>
            <a:ext cx="2743200" cy="2743200"/>
          </a:xfrm>
          <a:prstGeom prst="ellipse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2A9D8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2A9D8F">
              <a:alpha val="8000"/>
            </a:srgbClr>
          </a:solidFill>
          <a:ln w="12700">
            <a:solidFill>
              <a:srgbClr val="2A9D8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6465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谢谢大家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下节课预告：用 Python 实现投票算法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0" y="2834640"/>
            <a:ext cx="3657600" cy="27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3108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2A9D8F"/>
          </a:solidFill>
        </p:spPr>
      </p:sp>
      <p:sp>
        <p:nvSpPr>
          <p:cNvPr id="11" name="Text 9"/>
          <p:cNvSpPr/>
          <p:nvPr/>
        </p:nvSpPr>
        <p:spPr>
          <a:xfrm>
            <a:off x="2011680" y="310896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抽象建模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3108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2A9D8F"/>
          </a:solidFill>
        </p:spPr>
      </p:sp>
      <p:sp>
        <p:nvSpPr>
          <p:cNvPr id="13" name="Text 11"/>
          <p:cNvSpPr/>
          <p:nvPr/>
        </p:nvSpPr>
        <p:spPr>
          <a:xfrm>
            <a:off x="3840480" y="310896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设计算法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3108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2A9D8F"/>
          </a:solidFill>
        </p:spPr>
      </p:sp>
      <p:sp>
        <p:nvSpPr>
          <p:cNvPr id="15" name="Text 13"/>
          <p:cNvSpPr/>
          <p:nvPr/>
        </p:nvSpPr>
        <p:spPr>
          <a:xfrm>
            <a:off x="5669280" y="310896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验证算法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41064" y="3931920"/>
            <a:ext cx="109728" cy="109728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3931920"/>
            <a:ext cx="109728" cy="1097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93192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3208" y="393192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WPS 文字</Application>
  <PresentationFormat>On-screen Show (16:9)</PresentationFormat>
  <Paragraphs>423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张张</cp:lastModifiedBy>
  <cp:revision>2</cp:revision>
  <dcterms:created xsi:type="dcterms:W3CDTF">2026-06-17T05:27:07Z</dcterms:created>
  <dcterms:modified xsi:type="dcterms:W3CDTF">2026-06-17T05:27:07Z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ACAF1235AFAFFBAA2B30326AA714E91A_42</vt:lpwstr>
  </property>
  <property fmtid="{D5CDD505-2E9C-101B-9397-08002B2CF9AE}" pid="3" name="KSOProductBuildVer">
    <vt:lpwstr>2052-12.1.26016.26016</vt:lpwstr>
  </property>
</Properties>
</file>